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81" r:id="rId11"/>
    <p:sldId id="283" r:id="rId12"/>
    <p:sldId id="275" r:id="rId13"/>
    <p:sldId id="276" r:id="rId14"/>
    <p:sldId id="277" r:id="rId15"/>
  </p:sldIdLst>
  <p:sldSz cx="12192000" cy="6858000"/>
  <p:notesSz cx="6858000" cy="9144000"/>
  <p:embeddedFontLst>
    <p:embeddedFont>
      <p:font typeface="Arial Black" panose="020B0A0402010202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uodxQAvTrR4K8UwjKgTXhJpfj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FE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1149AB-066F-41A5-A2C3-D46D54F7D1CD}">
  <a:tblStyle styleId="{221149AB-066F-41A5-A2C3-D46D54F7D1C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4:10:24.29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24022,'1639'129'0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4:10:34.81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4:10:41.09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4:11:02.6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24575,'6'0'0,"6"0"0,8 0 0,6 0 0,3 0 0,8 0 0,3 0 0,1 0 0,-2 0 0,-2 0 0,-1 0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0T14:11:06.78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249 34 24575,'13'-6'0,"0"1"0,1 0 0,0 1 0,0 1 0,0 0 0,20-1 0,89 0 0,-80 4 0,30 1 0,-44-1 0,-23 1 0,-9-1 0,-77 4 0,-97 19 0,142-18 0,-27 10 0,44-10 0,-35 6 0,34-9 0,1 1 0,-1 1 0,1 0 0,-27 12 0,39-14 0,0 1 0,0 0 0,0 0 0,0 0 0,0 1 0,1-1 0,0 1 0,0 1 0,0-1 0,0 1 0,1 0 0,0 0 0,0 0 0,0 1 0,0-1 0,-3 8 0,7-11 0,-1-1 0,1 0 0,-1 1 0,1-1 0,0 0 0,-1 1 0,1-1 0,0 1 0,0-1 0,0 1 0,0-1 0,0 0 0,0 1 0,0-1 0,1 1 0,-1-1 0,0 1 0,1-1 0,-1 0 0,1 1 0,0-1 0,-1 0 0,1 0 0,0 1 0,0-1 0,0 0 0,0 0 0,0 0 0,0 0 0,0 0 0,0 0 0,0 0 0,0-1 0,1 1 0,-1 0 0,0 0 0,0-1 0,1 1 0,-1-1 0,3 1 0,6 2 0,1-1 0,-1 0 0,1 0 0,16 0 0,-11-1 0,77 12 0,-49-6 0,53 2 0,-45-7 0,-16 0 0,0-2 0,65-7 0,-86 4 0,1-2 0,-2 0 0,23-10 0,-22 7 0,1 2 0,32-9 0,-1 9 0,0 1 0,0 3 0,71 6 0,-16-1 0,347-3-1365,-414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000E2D9-0CF5-50DF-49BD-2E2D6C43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:notes">
            <a:extLst>
              <a:ext uri="{FF2B5EF4-FFF2-40B4-BE49-F238E27FC236}">
                <a16:creationId xmlns:a16="http://schemas.microsoft.com/office/drawing/2014/main" id="{6C905D11-3D33-4D3A-86BF-695559463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1:notes">
            <a:extLst>
              <a:ext uri="{FF2B5EF4-FFF2-40B4-BE49-F238E27FC236}">
                <a16:creationId xmlns:a16="http://schemas.microsoft.com/office/drawing/2014/main" id="{03D66178-6D68-9149-6F3C-0B6026754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698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F2590B93-57B1-B5E0-908D-F864EB029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>
            <a:extLst>
              <a:ext uri="{FF2B5EF4-FFF2-40B4-BE49-F238E27FC236}">
                <a16:creationId xmlns:a16="http://schemas.microsoft.com/office/drawing/2014/main" id="{5AB2A4C7-5533-BCE0-95CA-8FE398F6F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:notes">
            <a:extLst>
              <a:ext uri="{FF2B5EF4-FFF2-40B4-BE49-F238E27FC236}">
                <a16:creationId xmlns:a16="http://schemas.microsoft.com/office/drawing/2014/main" id="{F066BDC2-02FA-6CCA-46A2-3F2536ED0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300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3398C18E-6A99-92B1-0196-58CF2BCD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>
            <a:extLst>
              <a:ext uri="{FF2B5EF4-FFF2-40B4-BE49-F238E27FC236}">
                <a16:creationId xmlns:a16="http://schemas.microsoft.com/office/drawing/2014/main" id="{1FE1C420-73B9-549D-ECDD-0CAD8F373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:notes">
            <a:extLst>
              <a:ext uri="{FF2B5EF4-FFF2-40B4-BE49-F238E27FC236}">
                <a16:creationId xmlns:a16="http://schemas.microsoft.com/office/drawing/2014/main" id="{CC7369F2-0692-C203-CBBC-CFCC7187C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4315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3ab370f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3ab370f3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373ab370f3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2133" y="6324600"/>
            <a:ext cx="739986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324600"/>
            <a:ext cx="7399867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9"/>
          <p:cNvSpPr txBox="1"/>
          <p:nvPr/>
        </p:nvSpPr>
        <p:spPr>
          <a:xfrm>
            <a:off x="812800" y="6334126"/>
            <a:ext cx="275166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 Black"/>
              <a:buNone/>
            </a:pPr>
            <a:r>
              <a:rPr lang="en-US" sz="2000" b="0" i="0" u="none" strike="noStrike" cap="none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SRI SHAKTHI</a:t>
            </a:r>
            <a:br>
              <a:rPr lang="en-US" sz="1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INSTITUTE OF ENGINEERING &amp; TECHNOLOGY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9" descr="D:\Even 2014\After Plus 2\Images\logo Tr L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600" y="6324600"/>
            <a:ext cx="7112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8" Type="http://schemas.openxmlformats.org/officeDocument/2006/relationships/customXml" Target="../ink/ink4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17" Type="http://schemas.openxmlformats.org/officeDocument/2006/relationships/customXml" Target="../ink/ink3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.png"/><Relationship Id="rId20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15" Type="http://schemas.openxmlformats.org/officeDocument/2006/relationships/customXml" Target="../ink/ink2.xml"/><Relationship Id="rId19" Type="http://schemas.openxmlformats.org/officeDocument/2006/relationships/image" Target="../media/image12.png"/><Relationship Id="rId4" Type="http://schemas.openxmlformats.org/officeDocument/2006/relationships/customXml" Target="../ink/ink1.xml"/><Relationship Id="rId14" Type="http://schemas.openxmlformats.org/officeDocument/2006/relationships/image" Target="../media/image10.png"/><Relationship Id="rId22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2.01622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arxiv.org/abs/2308.11432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302.04761" TargetMode="External"/><Relationship Id="rId5" Type="http://schemas.openxmlformats.org/officeDocument/2006/relationships/hyperlink" Target="https://arxiv.org/abs/2005.11401" TargetMode="External"/><Relationship Id="rId4" Type="http://schemas.openxmlformats.org/officeDocument/2006/relationships/hyperlink" Target="https://arxiv.org/abs/2305.0884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ctrTitle" idx="4294967295"/>
          </p:nvPr>
        </p:nvSpPr>
        <p:spPr>
          <a:xfrm>
            <a:off x="-1279711" y="1599454"/>
            <a:ext cx="11388255" cy="212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endParaRPr sz="4000" b="0" i="0" u="none" strike="noStrike" cap="none" dirty="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" name="Google Shape;26;p1" descr="Best Engineering College in Coimbatore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97339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 txBox="1"/>
          <p:nvPr/>
        </p:nvSpPr>
        <p:spPr>
          <a:xfrm>
            <a:off x="401850" y="1708145"/>
            <a:ext cx="113883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B05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TEAM No.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A10</a:t>
            </a:r>
            <a:endParaRPr sz="2400" dirty="0">
              <a:solidFill>
                <a:srgbClr val="00B05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PRESENTED BY,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2D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DINESH J	            –   714023104022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779713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DINESH </a:t>
            </a: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KUMAR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  –   714023104023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HAMANTH A           –    714023104032</a:t>
            </a:r>
          </a:p>
          <a:p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KATHIR  S               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–    714023104046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IV– CSE  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SIET.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117668" y="2785679"/>
            <a:ext cx="35865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GUIDED BY,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 b="1" dirty="0">
                <a:solidFill>
                  <a:srgbClr val="92D05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chemeClr val="dk1"/>
              </a:buClr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Mr. Subramanian 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Assistant Professor – CSE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SIET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921844" y="1123409"/>
            <a:ext cx="1034831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>
                <a:solidFill>
                  <a:srgbClr val="00B050"/>
                </a:solidFill>
              </a:rPr>
              <a:t>TRAVELLA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10918" y="5617500"/>
            <a:ext cx="2792632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dk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Calibri"/>
              </a:rPr>
              <a:t>DATE : 10/10/2026</a:t>
            </a:r>
            <a:endParaRPr sz="2500" dirty="0">
              <a:solidFill>
                <a:schemeClr val="dk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>
            <a:spLocks noGrp="1"/>
          </p:cNvSpPr>
          <p:nvPr>
            <p:ph type="title" idx="4294967295"/>
          </p:nvPr>
        </p:nvSpPr>
        <p:spPr>
          <a:xfrm>
            <a:off x="1066800" y="521838"/>
            <a:ext cx="10058400" cy="88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dirty="0"/>
          </a:p>
        </p:txBody>
      </p:sp>
      <p:sp>
        <p:nvSpPr>
          <p:cNvPr id="38" name="Google Shape;38;p2"/>
          <p:cNvSpPr/>
          <p:nvPr/>
        </p:nvSpPr>
        <p:spPr>
          <a:xfrm flipH="1">
            <a:off x="1208930" y="1907664"/>
            <a:ext cx="8412600" cy="3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500" dirty="0"/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500" dirty="0"/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500" dirty="0"/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and Proposed System</a:t>
            </a:r>
            <a:endParaRPr sz="2500" dirty="0"/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500" dirty="0"/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 sz="2500" dirty="0"/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Outcomes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and Analysis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58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 sz="2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5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>
            <a:spLocks noGrp="1"/>
          </p:cNvSpPr>
          <p:nvPr>
            <p:ph type="title" idx="4294967295"/>
          </p:nvPr>
        </p:nvSpPr>
        <p:spPr>
          <a:xfrm>
            <a:off x="1062208" y="526675"/>
            <a:ext cx="10058400" cy="882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dirty="0"/>
          </a:p>
        </p:txBody>
      </p:sp>
      <p:sp>
        <p:nvSpPr>
          <p:cNvPr id="46" name="Google Shape;46;p3"/>
          <p:cNvSpPr/>
          <p:nvPr/>
        </p:nvSpPr>
        <p:spPr>
          <a:xfrm flipH="1">
            <a:off x="857053" y="1409671"/>
            <a:ext cx="10704325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Trip Planning: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fully customized, day-by-day travel itineraries within seconds using generative AI.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 users to describe trips using free-form text prompts instead of rigid forms.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Hallucinations: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Ground AI generation with verified real-world places, ratings, and photos via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Places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Travel Routes: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Compute real-time driving routes, distances, and transit durations using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Routes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Itinerary Modification: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Enable conversational, in-place adjustments (e.g.,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"Make Day 2 cheaper"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without regenerating the entire plan.</a:t>
            </a:r>
          </a:p>
          <a:p>
            <a:pPr algn="just"/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>
            <a:spLocks noGrp="1"/>
          </p:cNvSpPr>
          <p:nvPr>
            <p:ph type="title" idx="4294967295"/>
          </p:nvPr>
        </p:nvSpPr>
        <p:spPr>
          <a:xfrm>
            <a:off x="2504129" y="599712"/>
            <a:ext cx="7139710" cy="736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/>
          </a:p>
        </p:txBody>
      </p:sp>
      <p:sp>
        <p:nvSpPr>
          <p:cNvPr id="53" name="Google Shape;53;p4"/>
          <p:cNvSpPr/>
          <p:nvPr/>
        </p:nvSpPr>
        <p:spPr>
          <a:xfrm flipH="1">
            <a:off x="955038" y="1874174"/>
            <a:ext cx="10237893" cy="3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Traditional travel planning requires navigating across multiple websites (reviews, maps, flight/hotel booking, blogs), consuming hours and frequently leading to unrealistic transit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schedules.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TravelMind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resolves this fragmentation by combining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.The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extracts trip parameters, queries verified Points of Interest (POIs), calculates precise driving routes and durations and constructs day-by-day time-slotted itineraries with budget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breakdowns.Experimental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demonstrates a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90%+ reduction in trip planning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while eliminating fabricated venues through real-time API grounding.</a:t>
            </a:r>
          </a:p>
          <a:p>
            <a:br>
              <a:rPr lang="en-IN" sz="2000" dirty="0"/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>
            <a:spLocks noGrp="1"/>
          </p:cNvSpPr>
          <p:nvPr>
            <p:ph type="title" idx="4294967295"/>
          </p:nvPr>
        </p:nvSpPr>
        <p:spPr>
          <a:xfrm>
            <a:off x="1066604" y="583204"/>
            <a:ext cx="10058400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60" name="Google Shape;60;p5"/>
          <p:cNvSpPr/>
          <p:nvPr/>
        </p:nvSpPr>
        <p:spPr>
          <a:xfrm>
            <a:off x="378803" y="336025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D2A85B-3183-60E8-C0E4-3FF2A595057C}"/>
              </a:ext>
            </a:extLst>
          </p:cNvPr>
          <p:cNvSpPr txBox="1"/>
          <p:nvPr/>
        </p:nvSpPr>
        <p:spPr>
          <a:xfrm>
            <a:off x="955039" y="1467432"/>
            <a:ext cx="1028153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 in Tourism: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Modern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demand personalized, flexible, and budget-friendly travel experiences.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Planning Bottleneck: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Traditional trip planning takes 10–20 hours across multiple disjointed websites (blogs, maps, booking portals).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Generic AI: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Standard chatbots often suggest closed venues, non-existent locations, and geographically impractical schedules.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TravelMind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full-stack MERN web application combining Large Language Models with live Geospatial APIs.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Bridges generative AI reasoning with real-world map data to produce accurate, executable, and visual travel plans.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 idx="4294967295"/>
          </p:nvPr>
        </p:nvSpPr>
        <p:spPr>
          <a:xfrm>
            <a:off x="2555462" y="558932"/>
            <a:ext cx="8981483" cy="845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EXISTING AND PROPOSED SYSTEM</a:t>
            </a:r>
            <a:endParaRPr dirty="0"/>
          </a:p>
        </p:txBody>
      </p:sp>
      <p:sp>
        <p:nvSpPr>
          <p:cNvPr id="70" name="Google Shape;70;p6"/>
          <p:cNvSpPr txBox="1"/>
          <p:nvPr/>
        </p:nvSpPr>
        <p:spPr>
          <a:xfrm>
            <a:off x="955038" y="2037678"/>
            <a:ext cx="4927015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EXISTING SYSTEM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Requires cross-referencing multiple sites for hotels, attractions, and routes.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Packages: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Travel agency packages are rigid and not personalized.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Hallucination Risk: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Generic AI outputs fake places or outdated operational hours.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Geospatial Awareness: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Places far apart are often grouped into unrealistic time slots.</a:t>
            </a:r>
          </a:p>
          <a:p>
            <a:pPr marL="3429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;p6">
            <a:extLst>
              <a:ext uri="{FF2B5EF4-FFF2-40B4-BE49-F238E27FC236}">
                <a16:creationId xmlns:a16="http://schemas.microsoft.com/office/drawing/2014/main" id="{12012275-6CFE-3988-8170-48A2DA365223}"/>
              </a:ext>
            </a:extLst>
          </p:cNvPr>
          <p:cNvSpPr txBox="1"/>
          <p:nvPr/>
        </p:nvSpPr>
        <p:spPr>
          <a:xfrm>
            <a:off x="6394032" y="2010560"/>
            <a:ext cx="4927015" cy="484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SYSTEM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Single-Prompt Generation: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Generates comprehensive multi-day plans from one simple prompt.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Real-World Grounding: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Every destination is validated through Google Places API (New).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 Visualization: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Displays day-wise color-coded markers and routes directly on the map.</a:t>
            </a:r>
          </a:p>
          <a:p>
            <a:pPr marL="342900" lvl="4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4217449" y="675785"/>
            <a:ext cx="53397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7"/>
          <p:cNvGraphicFramePr/>
          <p:nvPr>
            <p:extLst>
              <p:ext uri="{D42A27DB-BD31-4B8C-83A1-F6EECF244321}">
                <p14:modId xmlns:p14="http://schemas.microsoft.com/office/powerpoint/2010/main" val="267007170"/>
              </p:ext>
            </p:extLst>
          </p:nvPr>
        </p:nvGraphicFramePr>
        <p:xfrm>
          <a:off x="966952" y="1689905"/>
          <a:ext cx="10437580" cy="4198608"/>
        </p:xfrm>
        <a:graphic>
          <a:graphicData uri="http://schemas.openxmlformats.org/drawingml/2006/table">
            <a:tbl>
              <a:tblPr firstRow="1" bandRow="1">
                <a:noFill/>
                <a:tableStyleId>{221149AB-066F-41A5-A2C3-D46D54F7D1CD}</a:tableStyleId>
              </a:tblPr>
              <a:tblGrid>
                <a:gridCol w="112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375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AUTHOR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TITLE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TECHNOLOGY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       USED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LIMITATION</a:t>
                      </a:r>
                      <a:endParaRPr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534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sz="20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for Knowledge Tasks</a:t>
                      </a:r>
                      <a:endParaRPr lang="en-IN" sz="20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RAG, Pre-trained Seq2Seq, Dense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live geospatial coordinate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95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Yao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en-IN" sz="2000" b="0" i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Synergizing Reasoning and Acting in Language Models</a:t>
                      </a:r>
                      <a:endParaRPr lang="en-IN" sz="20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Agent, LLM Prompting, External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budget allocation and interactive map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4349334" y="675785"/>
            <a:ext cx="53397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dirty="0"/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8"/>
          <p:cNvGraphicFramePr/>
          <p:nvPr>
            <p:extLst>
              <p:ext uri="{D42A27DB-BD31-4B8C-83A1-F6EECF244321}">
                <p14:modId xmlns:p14="http://schemas.microsoft.com/office/powerpoint/2010/main" val="3684417573"/>
              </p:ext>
            </p:extLst>
          </p:nvPr>
        </p:nvGraphicFramePr>
        <p:xfrm>
          <a:off x="929638" y="1656080"/>
          <a:ext cx="10332700" cy="4200900"/>
        </p:xfrm>
        <a:graphic>
          <a:graphicData uri="http://schemas.openxmlformats.org/drawingml/2006/table">
            <a:tbl>
              <a:tblPr firstRow="1" bandRow="1">
                <a:noFill/>
                <a:tableStyleId>{221149AB-066F-41A5-A2C3-D46D54F7D1CD}</a:tableStyleId>
              </a:tblPr>
              <a:tblGrid>
                <a:gridCol w="130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USED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25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Schick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Toolformer: Language Models Using External Tools</a:t>
                      </a:r>
                      <a:endParaRPr lang="en-IN" sz="20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Tool-augmented LLMs, API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 and unverified place hallucinations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040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Xie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TravelPlanner: Tool-Use Agents for Travel Planning</a:t>
                      </a:r>
                      <a:endParaRPr lang="en-IN" sz="2000" b="0" i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LLM Agents, Multi-Constraint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framework only; lacks </a:t>
                      </a:r>
                      <a:r>
                        <a:rPr lang="en-IN" sz="20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fullstack</a:t>
                      </a:r>
                      <a:r>
                        <a:rPr lang="en-IN" sz="20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web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CADE939-0BFD-C797-E088-80C7FC18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>
            <a:extLst>
              <a:ext uri="{FF2B5EF4-FFF2-40B4-BE49-F238E27FC236}">
                <a16:creationId xmlns:a16="http://schemas.microsoft.com/office/drawing/2014/main" id="{1E603690-582F-8A8A-B478-D9B5C625D23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380656" y="98533"/>
            <a:ext cx="9430685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 dirty="0"/>
          </a:p>
        </p:txBody>
      </p:sp>
      <p:sp>
        <p:nvSpPr>
          <p:cNvPr id="99" name="Google Shape;99;p11">
            <a:extLst>
              <a:ext uri="{FF2B5EF4-FFF2-40B4-BE49-F238E27FC236}">
                <a16:creationId xmlns:a16="http://schemas.microsoft.com/office/drawing/2014/main" id="{9D84D545-CE2B-EFA7-3910-91DFC8DBB24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49363" y="1342069"/>
            <a:ext cx="10377487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1">
            <a:extLst>
              <a:ext uri="{FF2B5EF4-FFF2-40B4-BE49-F238E27FC236}">
                <a16:creationId xmlns:a16="http://schemas.microsoft.com/office/drawing/2014/main" id="{F30E1600-5CFB-BE2D-154C-BEC61FAC5DC4}"/>
              </a:ext>
            </a:extLst>
          </p:cNvPr>
          <p:cNvSpPr/>
          <p:nvPr/>
        </p:nvSpPr>
        <p:spPr>
          <a:xfrm>
            <a:off x="399123" y="306561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1">
            <a:extLst>
              <a:ext uri="{FF2B5EF4-FFF2-40B4-BE49-F238E27FC236}">
                <a16:creationId xmlns:a16="http://schemas.microsoft.com/office/drawing/2014/main" id="{D7AB9210-5AE9-74FA-7942-13BF583EBB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>
            <a:extLst>
              <a:ext uri="{FF2B5EF4-FFF2-40B4-BE49-F238E27FC236}">
                <a16:creationId xmlns:a16="http://schemas.microsoft.com/office/drawing/2014/main" id="{6F258A58-5EC7-14C8-56F7-DDE3DA29E9F7}"/>
              </a:ext>
            </a:extLst>
          </p:cNvPr>
          <p:cNvSpPr txBox="1"/>
          <p:nvPr/>
        </p:nvSpPr>
        <p:spPr>
          <a:xfrm>
            <a:off x="4678975" y="4722950"/>
            <a:ext cx="13311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3BA7E8-F3F9-0668-50DB-11C1B24A9190}"/>
              </a:ext>
            </a:extLst>
          </p:cNvPr>
          <p:cNvCxnSpPr>
            <a:cxnSpLocks/>
          </p:cNvCxnSpPr>
          <p:nvPr/>
        </p:nvCxnSpPr>
        <p:spPr>
          <a:xfrm flipV="1">
            <a:off x="6035040" y="4297680"/>
            <a:ext cx="0" cy="1447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5F59F8F-C0F5-1813-4211-2E4EBFCD5791}"/>
                  </a:ext>
                </a:extLst>
              </p14:cNvPr>
              <p14:cNvContentPartPr/>
              <p14:nvPr/>
            </p14:nvContentPartPr>
            <p14:xfrm>
              <a:off x="4768783" y="1122571"/>
              <a:ext cx="590400" cy="46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5F59F8F-C0F5-1813-4211-2E4EBFCD57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33143" y="1086571"/>
                <a:ext cx="6620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6187FB4-27CE-8075-97FD-B15C8A7BE010}"/>
                  </a:ext>
                </a:extLst>
              </p14:cNvPr>
              <p14:cNvContentPartPr/>
              <p14:nvPr/>
            </p14:nvContentPartPr>
            <p14:xfrm>
              <a:off x="6227143" y="1516051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6187FB4-27CE-8075-97FD-B15C8A7BE01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91503" y="148005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6D56A69-C008-87B7-B39D-82C397EBBD70}"/>
                  </a:ext>
                </a:extLst>
              </p14:cNvPr>
              <p14:cNvContentPartPr/>
              <p14:nvPr/>
            </p14:nvContentPartPr>
            <p14:xfrm>
              <a:off x="995263" y="3194731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6D56A69-C008-87B7-B39D-82C397EBBD7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9263" y="315873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A220FCE-4B2B-7959-71F6-4A0CCFA0D3F5}"/>
                  </a:ext>
                </a:extLst>
              </p14:cNvPr>
              <p14:cNvContentPartPr/>
              <p14:nvPr/>
            </p14:nvContentPartPr>
            <p14:xfrm>
              <a:off x="4953823" y="1226611"/>
              <a:ext cx="13068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A220FCE-4B2B-7959-71F6-4A0CCFA0D3F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17823" y="1190971"/>
                <a:ext cx="2023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76B75F7-7042-D5D5-1091-D5E79914BBCE}"/>
                  </a:ext>
                </a:extLst>
              </p14:cNvPr>
              <p14:cNvContentPartPr/>
              <p14:nvPr/>
            </p14:nvContentPartPr>
            <p14:xfrm>
              <a:off x="4575103" y="1087291"/>
              <a:ext cx="568080" cy="95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76B75F7-7042-D5D5-1091-D5E79914BB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39463" y="1051291"/>
                <a:ext cx="639720" cy="1674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AutoShape 6" descr="Legal Document Analyzer Flowchart">
            <a:extLst>
              <a:ext uri="{FF2B5EF4-FFF2-40B4-BE49-F238E27FC236}">
                <a16:creationId xmlns:a16="http://schemas.microsoft.com/office/drawing/2014/main" id="{D6714560-3C2E-5AA8-4D45-86C27FC401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C827DA-7E1F-5FB5-9A17-89AE982BC33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97243" y="1511174"/>
            <a:ext cx="9765204" cy="474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7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2E0B007C-0084-88F6-A56E-A583B7E8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>
            <a:extLst>
              <a:ext uri="{FF2B5EF4-FFF2-40B4-BE49-F238E27FC236}">
                <a16:creationId xmlns:a16="http://schemas.microsoft.com/office/drawing/2014/main" id="{2DE9734B-1C3F-80CC-C505-1EC69FE850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20240" y="583204"/>
            <a:ext cx="8351520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4">
            <a:extLst>
              <a:ext uri="{FF2B5EF4-FFF2-40B4-BE49-F238E27FC236}">
                <a16:creationId xmlns:a16="http://schemas.microsoft.com/office/drawing/2014/main" id="{49EAF570-6828-EF4B-5C19-204EC2F293F5}"/>
              </a:ext>
            </a:extLst>
          </p:cNvPr>
          <p:cNvSpPr/>
          <p:nvPr/>
        </p:nvSpPr>
        <p:spPr>
          <a:xfrm flipH="1">
            <a:off x="791308" y="2067617"/>
            <a:ext cx="5152291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/>
              <a:t>1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User Authentication &amp; Profile Module: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sign-up and sign-in using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(12 salt rounds).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 routes, profile dashboard, and saved trip history.</a:t>
            </a:r>
          </a:p>
          <a:p>
            <a:pPr>
              <a:lnSpc>
                <a:spcPct val="150000"/>
              </a:lnSpc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Google Shape;145;p14">
            <a:extLst>
              <a:ext uri="{FF2B5EF4-FFF2-40B4-BE49-F238E27FC236}">
                <a16:creationId xmlns:a16="http://schemas.microsoft.com/office/drawing/2014/main" id="{1226BED0-0417-0B11-AF01-AF2F128D90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4;p14">
            <a:extLst>
              <a:ext uri="{FF2B5EF4-FFF2-40B4-BE49-F238E27FC236}">
                <a16:creationId xmlns:a16="http://schemas.microsoft.com/office/drawing/2014/main" id="{E38776F6-6DCF-5302-20EC-1F9708150B25}"/>
              </a:ext>
            </a:extLst>
          </p:cNvPr>
          <p:cNvSpPr/>
          <p:nvPr/>
        </p:nvSpPr>
        <p:spPr>
          <a:xfrm flipH="1">
            <a:off x="6248403" y="2067618"/>
            <a:ext cx="545416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Natural Language AI Parser: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free-form user prompts into structured JSON parameters (Destination, Duration, Budget, Group, Interests).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and sanitizes trip inputs before processing.</a:t>
            </a:r>
          </a:p>
        </p:txBody>
      </p:sp>
    </p:spTree>
    <p:extLst>
      <p:ext uri="{BB962C8B-B14F-4D97-AF65-F5344CB8AC3E}">
        <p14:creationId xmlns:p14="http://schemas.microsoft.com/office/powerpoint/2010/main" val="523618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31BD434D-C8C7-0018-F5AB-9316BEB9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>
            <a:extLst>
              <a:ext uri="{FF2B5EF4-FFF2-40B4-BE49-F238E27FC236}">
                <a16:creationId xmlns:a16="http://schemas.microsoft.com/office/drawing/2014/main" id="{AB9A8EDA-007C-59BC-1EC9-EF6C3AC0C2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20240" y="583204"/>
            <a:ext cx="8351520" cy="76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4">
            <a:extLst>
              <a:ext uri="{FF2B5EF4-FFF2-40B4-BE49-F238E27FC236}">
                <a16:creationId xmlns:a16="http://schemas.microsoft.com/office/drawing/2014/main" id="{40700747-DF9A-A02E-6EBD-E43B51233338}"/>
              </a:ext>
            </a:extLst>
          </p:cNvPr>
          <p:cNvSpPr/>
          <p:nvPr/>
        </p:nvSpPr>
        <p:spPr>
          <a:xfrm flipH="1">
            <a:off x="680211" y="1382753"/>
            <a:ext cx="4900782" cy="609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Geospatial &amp; Map Integration Module: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Places API (New):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Fetches verified attractions, hotels, restaurants, ratings, and photos.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Routes API v2: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Computes route polylines, travel distances, and step-by-step driving durations.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JS API: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Renders interactive maps with custom markers and transit routes.</a:t>
            </a:r>
          </a:p>
          <a:p>
            <a:pPr>
              <a:lnSpc>
                <a:spcPct val="150000"/>
              </a:lnSpc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Google Shape;145;p14">
            <a:extLst>
              <a:ext uri="{FF2B5EF4-FFF2-40B4-BE49-F238E27FC236}">
                <a16:creationId xmlns:a16="http://schemas.microsoft.com/office/drawing/2014/main" id="{C4A93364-6F78-3AA1-2737-19F164629D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4;p14">
            <a:extLst>
              <a:ext uri="{FF2B5EF4-FFF2-40B4-BE49-F238E27FC236}">
                <a16:creationId xmlns:a16="http://schemas.microsoft.com/office/drawing/2014/main" id="{4396DFBA-CB1A-7B62-AF7F-25392722555C}"/>
              </a:ext>
            </a:extLst>
          </p:cNvPr>
          <p:cNvSpPr/>
          <p:nvPr/>
        </p:nvSpPr>
        <p:spPr>
          <a:xfrm flipH="1">
            <a:off x="6011916" y="1382753"/>
            <a:ext cx="5328745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Budget &amp; Itinerary Engine: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Categorizes daily activities into structured time slots (Morning, Afternoon, Evening).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calculates and allocates budget across accommodations, dining, and activities.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Dynamic Modifier &amp; Export Module: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itinerary refinement through targeted AI prompt updates.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PDF export with complete day-by-day schedules and expenditure breakdown.</a:t>
            </a:r>
          </a:p>
          <a:p>
            <a:br>
              <a:rPr lang="en-IN" sz="2000"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131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73ab370f3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73ab370f3c_0_0"/>
          <p:cNvSpPr txBox="1"/>
          <p:nvPr/>
        </p:nvSpPr>
        <p:spPr>
          <a:xfrm>
            <a:off x="2782950" y="606973"/>
            <a:ext cx="66261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3200" b="1" dirty="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1E699-6E7B-A2D5-98C5-4B3F01B6506B}"/>
              </a:ext>
            </a:extLst>
          </p:cNvPr>
          <p:cNvSpPr txBox="1"/>
          <p:nvPr/>
        </p:nvSpPr>
        <p:spPr>
          <a:xfrm>
            <a:off x="848536" y="1511174"/>
            <a:ext cx="10494928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Bao, Y., He, T., Zhang, Y., &amp; Chen, X.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with Large Language Models for Personalized Tour Recommendation and Itinerary Generation.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https://arxiv.org/abs/2305.08848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Lewis, P., Perez, E.,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Piktus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(2020).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for Knowledge-Intensive NLP Tasks.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https://arxiv.org/abs/2005.11401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Schick, T., Dwivedi-Yu, J.,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Dessì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et al. (2023).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Toolformer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Language Models Can Teach Themselves to Use Tools.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https://arxiv.org/abs/2302.04761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L., Ma, C., Feng, X., et al.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Survey on Large Language Model based Autonomous Agents.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https://arxiv.org/abs/2308.11432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J., Zhang, K., Chen, J., et al. (2024).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TravelPlanner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Benchmark for Tool-Use Agents in Complex Travel Planning.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https://arxiv.org/abs/2402.01622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/>
        </p:nvSpPr>
        <p:spPr>
          <a:xfrm>
            <a:off x="3724200" y="675673"/>
            <a:ext cx="4743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</p:txBody>
      </p:sp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1AD03-0FF0-6D84-41C3-F7A51B869D51}"/>
              </a:ext>
            </a:extLst>
          </p:cNvPr>
          <p:cNvSpPr txBox="1"/>
          <p:nvPr/>
        </p:nvSpPr>
        <p:spPr>
          <a:xfrm>
            <a:off x="703363" y="1508528"/>
            <a:ext cx="1028192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Effectively bridges Large Language Models (OpenAI GPT) with real-world geospatial intelligence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Places &amp; Routes APIs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Elimination of Hallucinations: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Ensures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verified locations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accurate operating hours, ratings, and real photos across all itineraries.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Time Optimization: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Reduces comprehensive trip planning time from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10–12 hours to under 10 seconds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Route Feasibility: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Solves impractical transit schedules by computing precise driving durations, distances, and waypoint polylines.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Granular AI Customization: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Supports conversational, in-place itinerary edits without resetting or regenerating the entire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>
            <a:spLocks noGrp="1"/>
          </p:cNvSpPr>
          <p:nvPr>
            <p:ph type="title" idx="4294967295"/>
          </p:nvPr>
        </p:nvSpPr>
        <p:spPr>
          <a:xfrm>
            <a:off x="1066800" y="2703512"/>
            <a:ext cx="10058400" cy="145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THANK YOU !!!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039" y="425172"/>
            <a:ext cx="1600423" cy="108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7_srishakthi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1098</Words>
  <Application>Microsoft Office PowerPoint</Application>
  <PresentationFormat>Widescreen</PresentationFormat>
  <Paragraphs>141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Times New Roman</vt:lpstr>
      <vt:lpstr>Calibri</vt:lpstr>
      <vt:lpstr>Wingdings</vt:lpstr>
      <vt:lpstr>Noto Sans Symbols</vt:lpstr>
      <vt:lpstr>7_srishakthi theme</vt:lpstr>
      <vt:lpstr>                     </vt:lpstr>
      <vt:lpstr>AGENDA</vt:lpstr>
      <vt:lpstr>OBJECTIVE</vt:lpstr>
      <vt:lpstr>ABSTRACT</vt:lpstr>
      <vt:lpstr>INTRODUCTION</vt:lpstr>
      <vt:lpstr>EXISTING AND PROPOSED SYSTEM</vt:lpstr>
      <vt:lpstr>PowerPoint Presentation</vt:lpstr>
      <vt:lpstr>PowerPoint Presentation</vt:lpstr>
      <vt:lpstr>  FLOWCHART</vt:lpstr>
      <vt:lpstr>MODULES</vt:lpstr>
      <vt:lpstr>MODULES</vt:lpstr>
      <vt:lpstr>PowerPoint Presentation</vt:lpstr>
      <vt:lpstr>PowerPoint Presentation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bharath sivanesh</dc:creator>
  <cp:lastModifiedBy>Dinesh Kumar</cp:lastModifiedBy>
  <cp:revision>16</cp:revision>
  <cp:lastPrinted>2026-04-27T12:44:11Z</cp:lastPrinted>
  <dcterms:created xsi:type="dcterms:W3CDTF">2024-08-28T10:57:26Z</dcterms:created>
  <dcterms:modified xsi:type="dcterms:W3CDTF">2026-10-10T03:20:34Z</dcterms:modified>
</cp:coreProperties>
</file>